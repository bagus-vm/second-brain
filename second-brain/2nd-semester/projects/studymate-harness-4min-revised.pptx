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2D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35" autoAdjust="0"/>
  </p:normalViewPr>
  <p:slideViewPr>
    <p:cSldViewPr snapToGrid="0" snapToObjects="1">
      <p:cViewPr>
        <p:scale>
          <a:sx n="110" d="100"/>
          <a:sy n="110" d="100"/>
        </p:scale>
        <p:origin x="584" y="1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29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15s. StudyMate turns lecture material into an Obsidian knowledge base. One thesis: the LLM never touches a file or the network — it proposes tool calls as JSON, and the Python harness executes, extends, controls. Three diagrams: the loop, MCP, the permission gate.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60s. Each iteration sends current message context and tool schemas to the LLM. The model proposes tool calls or a final answer. Calls pass through </a:t>
            </a:r>
            <a:r>
              <a:rPr dirty="0" err="1"/>
              <a:t>ToolRegistry</a:t>
            </a:r>
            <a:r>
              <a:rPr dirty="0"/>
              <a:t>; each result becomes a TOOL observation, and the model chooses the next step. The harness limits a run to 50 iterations. The configured Qwen window is 262,144 tokens, shown as 262k. Auto-compaction uses a configured 0.8 threshold with a safety buffer, so ~80% is approximate. History can be </a:t>
            </a:r>
            <a:r>
              <a:rPr dirty="0" err="1"/>
              <a:t>summarised</a:t>
            </a:r>
            <a:r>
              <a:rPr dirty="0"/>
              <a:t> mid-run. On API context overflow, forced compaction permits one retry; empty or length-cutoff answers receive a continuation request when budget remains. The message list is active model context; </a:t>
            </a:r>
            <a:r>
              <a:rPr dirty="0" err="1"/>
              <a:t>StudyMate</a:t>
            </a:r>
            <a:r>
              <a:rPr dirty="0"/>
              <a:t> also has persistent memory.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60s. MCP — Model Context Protocol — is the open standard for exposing tools over JSON-RPC. We implemented both roles, and that symmetry is the milestone. Outbound: StudyMate itself is a FastMCP server over stdio exposing nine vault tools. Crucially the vault logic lives in one service class shared by our internal tools and the server, so an external host gets byte-identical behaviour — including the no-delete invariant; there is simply no delete tool to expose. Inbound: we spawn the external DuckDuckGo search server over stdio, keep one long-lived session on a background asyncio thread — the engine stays synchronous — restart and retry once if the transport dies, and adapt each remote tool into a plain BaseTool. The agent gained internet search without touching engine.py. And MCP tools register exactly like built-ins — same schemas, same permission gate — which is what act 3 is about.</a:t>
            </a:r>
          </a:p>
          <a:p>
            <a:endParaRPr/>
          </a:p>
          <a:p>
            <a:r>
              <a:t>Reference (not spoken): The 5 read tools are obsidian_list_notes, obsidian_read_note, obsidian_search_notes, obsidian_get_outgoing_links, obsidian_get_backlinks. The 4 write tools are obsidian_write_note, obsidian_append_note, obsidian_edit_note, obsidian_insert_into_section. The server and internal adapters reuse the same vault service. External-host calls do not pass through StudyMate's ToolRegistry permission gate.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70s. With policy enabled, StudyMate's registry checks built-in and adapted MCP calls before execution. Session allowances come first, then ordered rules: first match wins. The configured tiers allow read and designated edit tools; web tools and unmatched calls need confirmation. The user sees the tool, rule and arguments, and chooses yes, no, or always. Always approves that tool for this session, not just those arguments, and is never persisted. No interactive input or a failing confirmation handler denies rather than auto-allows. Denial becomes an observation so the model can select another approach. Every evaluated decision emits a PermissionEvent; observability hooks feed Prometheus and Langfuse when enabled. Authorization and containment differ: the policy decides whether a tool may run; PathSecurityManager constrains filesystem-tool paths. The loop turns proposals into progress, MCP extends the tools, and the gate controls execution with a human veto and observable decisions. </a:t>
            </a:r>
          </a:p>
          <a:p>
            <a:endParaRPr/>
          </a:p>
          <a:p>
            <a:r>
              <a:t>Reference (not spoken): ObsidianVaultService has its own vault-root containment, not the filesystem artifacts-only policy. External hosts calling the standalone MCP server do not use this registry gate. Rerouting after a denial is possible, not guaranteed. Permissions and telemetry are configurable.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EFD5-424E-7B6A-8FBE-755CB63F61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60761BC2-5F04-2378-DD57-78E0FED592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F783D948-179F-7154-FBDC-0D941F1C1CDC}"/>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5772EC7B-F7D2-F67D-63A7-C239F8EC22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3D4652-6389-99E5-0174-68EA0B5FE40A}"/>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9373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D615-F62D-C5F5-D5C5-747814506B5B}"/>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4DE6BCB5-B396-5D9C-3568-89DD4BF41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B26FB302-F43A-C084-4FC2-CC6759B6F726}"/>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B42665F3-8D03-DE8A-4649-6A2F94F417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4B1CEC-6A54-8185-559C-69E6822C5E33}"/>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6775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CBA1E-583D-2A0C-9BEA-42A2DEF0D2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1B776DF4-FF52-2DF9-968A-ADC59659B1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1AE6A6-E047-4395-EEB8-85B45D39ED04}"/>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F622E87B-5F06-4D44-B60B-8A5DCC0CDF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35A9-B625-E3DF-F0EF-6947C1231A4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1504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FD3BE-1606-3EBD-1AF3-3862C8240AA6}"/>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882C8D96-E7E0-80BB-FEB6-41234167C8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05B36ECD-04ED-5D37-389B-0260364A53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F0B26AA5-DDFC-CA0A-E359-3C2B5ED9FE1F}"/>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a:extLst>
              <a:ext uri="{FF2B5EF4-FFF2-40B4-BE49-F238E27FC236}">
                <a16:creationId xmlns:a16="http://schemas.microsoft.com/office/drawing/2014/main" id="{E492D66F-337A-FD68-95A1-C939415F64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9CCEBF-1194-75CE-7E85-73E555C9B90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923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3C3B5-7CD2-AAC5-089A-B69F467F874B}"/>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5A798B4-A0BF-AE4A-849E-2771259206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AF0B5-1498-EAE0-E5D0-FBA8C9EEC8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49EFB4BC-6A22-10D3-0932-7369BAE5B8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A83CF5-9CC4-2A29-3D6E-F61A2B1AAF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357FFC56-FD50-4B1D-C44C-A839D708EDFE}"/>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a:extLst>
              <a:ext uri="{FF2B5EF4-FFF2-40B4-BE49-F238E27FC236}">
                <a16:creationId xmlns:a16="http://schemas.microsoft.com/office/drawing/2014/main" id="{91A60534-A3EB-C3D6-E544-899F752EC2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F02D6DF-3494-05BD-8A1A-627A84D2A017}"/>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9574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F29BC-3273-CB3D-1AAE-AFC05E1F71CB}"/>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757FD8B0-4803-342C-4282-9B2B72C0BF8F}"/>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a:extLst>
              <a:ext uri="{FF2B5EF4-FFF2-40B4-BE49-F238E27FC236}">
                <a16:creationId xmlns:a16="http://schemas.microsoft.com/office/drawing/2014/main" id="{6B5AF694-622C-44A5-9FF5-57C0FADE2B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13FEC2-5DBE-DE68-6439-FC0AEC3A266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418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844DA0-35EF-0B04-A8A9-595F5C649BE8}"/>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a:extLst>
              <a:ext uri="{FF2B5EF4-FFF2-40B4-BE49-F238E27FC236}">
                <a16:creationId xmlns:a16="http://schemas.microsoft.com/office/drawing/2014/main" id="{4F3F0F75-366F-C85C-B513-688A9628B4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2FE174-8DC5-5704-FBED-C5DD69279E4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5799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47161-4493-4AD5-E034-7EBEA3F0BE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6E220AEE-C9E9-5757-F076-746375E411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81E90933-9661-86D8-6F43-6FE4A22FAC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F0B982-3978-7851-55E5-8B1971742A4F}"/>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a:extLst>
              <a:ext uri="{FF2B5EF4-FFF2-40B4-BE49-F238E27FC236}">
                <a16:creationId xmlns:a16="http://schemas.microsoft.com/office/drawing/2014/main" id="{F3857B4E-CEA3-E377-28AD-BC1615B257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86F19-41A5-62B0-AACF-BAA3E83526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2145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E6C55-6174-2955-E25F-892AFF536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E6E78EB8-D1D0-5FB1-D2F2-AD18E1F24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C9EB1C70-3B6E-EBFD-0376-D255C919C2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30CDC1-C7E6-9C0F-53B6-DB0FF6BA2E84}"/>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a:extLst>
              <a:ext uri="{FF2B5EF4-FFF2-40B4-BE49-F238E27FC236}">
                <a16:creationId xmlns:a16="http://schemas.microsoft.com/office/drawing/2014/main" id="{03BFEEAB-542F-5D63-BDE5-F087F70335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FDB581-140D-6EA1-0EDA-83714801CA41}"/>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9542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8AFD-3A86-278F-C3E9-3A435E6D6B63}"/>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CFC2912-7387-1BFC-18B6-81B55E10C2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C9A2C0E5-811E-4B13-8E71-797B2903E9A6}"/>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68EA89FD-8F52-A195-11E6-C8D026DE0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2C90B-E9F2-647C-1D5C-006145EE5B9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9128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48382C-0D85-7F2F-40E8-070392BDD6A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EE1F7485-3BD7-49E9-3619-3C656C3BCD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A5EF777-0DE9-7218-627B-900DE2604118}"/>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0DB7E613-D146-E361-9439-76ED9AFF7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2C0C7-9247-873C-5917-C92B5310D4D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4698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AF1AE-D1E0-331C-407F-38B8BCB299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9E428399-E1C2-0377-44C7-E3964318C6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C8F61EF1-2CFC-6AFB-DEB7-F5333358C6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9/17/2026</a:t>
            </a:fld>
            <a:endParaRPr lang="en-US"/>
          </a:p>
        </p:txBody>
      </p:sp>
      <p:sp>
        <p:nvSpPr>
          <p:cNvPr id="5" name="Footer Placeholder 4">
            <a:extLst>
              <a:ext uri="{FF2B5EF4-FFF2-40B4-BE49-F238E27FC236}">
                <a16:creationId xmlns:a16="http://schemas.microsoft.com/office/drawing/2014/main" id="{7B33B84C-D73D-A1C1-588D-BF8D4FDF7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7E189A-9A6B-1654-95F8-3C9D0DE757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924762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148840"/>
            <a:ext cx="10058400" cy="320040"/>
          </a:xfrm>
          <a:prstGeom prst="rect">
            <a:avLst/>
          </a:prstGeom>
          <a:noFill/>
        </p:spPr>
        <p:txBody>
          <a:bodyPr wrap="square" lIns="25400" tIns="0" rIns="25400" bIns="0">
            <a:spAutoFit/>
          </a:bodyPr>
          <a:lstStyle/>
          <a:p>
            <a:pPr algn="l"/>
            <a:r>
              <a:rPr sz="1300" b="1" i="0">
                <a:solidFill>
                  <a:srgbClr val="534AB7"/>
                </a:solidFill>
                <a:latin typeface="Segoe UI"/>
              </a:rPr>
              <a:t>StudyMate · AI Engineering Lab · Week 3</a:t>
            </a:r>
          </a:p>
        </p:txBody>
      </p:sp>
      <p:sp>
        <p:nvSpPr>
          <p:cNvPr id="3" name="TextBox 2"/>
          <p:cNvSpPr txBox="1"/>
          <p:nvPr/>
        </p:nvSpPr>
        <p:spPr>
          <a:xfrm>
            <a:off x="777240" y="2514600"/>
            <a:ext cx="8281050" cy="707886"/>
          </a:xfrm>
          <a:prstGeom prst="rect">
            <a:avLst/>
          </a:prstGeom>
          <a:noFill/>
        </p:spPr>
        <p:txBody>
          <a:bodyPr wrap="none">
            <a:spAutoFit/>
          </a:bodyPr>
          <a:lstStyle/>
          <a:p>
            <a:r>
              <a:rPr lang="en-US" sz="4000" dirty="0">
                <a:ea typeface="+mj-lt"/>
                <a:cs typeface="+mj-lt"/>
              </a:rPr>
              <a:t>Autonomous Academic Study Assistant</a:t>
            </a:r>
            <a:endParaRPr lang="en-IN" sz="4000" dirty="0"/>
          </a:p>
        </p:txBody>
      </p:sp>
      <p:sp>
        <p:nvSpPr>
          <p:cNvPr id="4" name="TextBox 3"/>
          <p:cNvSpPr txBox="1"/>
          <p:nvPr/>
        </p:nvSpPr>
        <p:spPr>
          <a:xfrm>
            <a:off x="822960" y="3657600"/>
            <a:ext cx="10515600" cy="246221"/>
          </a:xfrm>
          <a:prstGeom prst="rect">
            <a:avLst/>
          </a:prstGeom>
          <a:noFill/>
        </p:spPr>
        <p:txBody>
          <a:bodyPr wrap="square" lIns="25400" tIns="0" rIns="25400" bIns="0">
            <a:spAutoFit/>
          </a:bodyPr>
          <a:lstStyle/>
          <a:p>
            <a:pPr algn="l"/>
            <a:r>
              <a:rPr sz="1600" b="0" i="0" dirty="0" err="1">
                <a:solidFill>
                  <a:srgbClr val="2C2C2A"/>
                </a:solidFill>
                <a:latin typeface="Segoe UI"/>
              </a:rPr>
              <a:t>ReAct</a:t>
            </a:r>
            <a:r>
              <a:rPr sz="1600" b="0" i="0" dirty="0">
                <a:solidFill>
                  <a:srgbClr val="2C2C2A"/>
                </a:solidFill>
                <a:latin typeface="Segoe UI"/>
              </a:rPr>
              <a:t> loop · MCP integration (both directions) · permission management</a:t>
            </a:r>
          </a:p>
        </p:txBody>
      </p:sp>
      <p:sp>
        <p:nvSpPr>
          <p:cNvPr id="5" name="TextBox 4"/>
          <p:cNvSpPr txBox="1"/>
          <p:nvPr/>
        </p:nvSpPr>
        <p:spPr>
          <a:xfrm>
            <a:off x="822960" y="4297680"/>
            <a:ext cx="10515600" cy="246221"/>
          </a:xfrm>
          <a:prstGeom prst="rect">
            <a:avLst/>
          </a:prstGeom>
          <a:noFill/>
        </p:spPr>
        <p:txBody>
          <a:bodyPr wrap="square" lIns="25400" tIns="0" rIns="25400" bIns="0">
            <a:spAutoFit/>
          </a:bodyPr>
          <a:lstStyle/>
          <a:p>
            <a:r>
              <a:rPr lang="en-US" sz="1600" dirty="0"/>
              <a:t>AI Engineering Lab </a:t>
            </a:r>
            <a:r>
              <a:rPr lang="en-US" sz="1600" dirty="0" err="1"/>
              <a:t>SoSe</a:t>
            </a:r>
            <a:r>
              <a:rPr lang="en-US" sz="1600" dirty="0"/>
              <a:t> 2026</a:t>
            </a:r>
          </a:p>
        </p:txBody>
      </p:sp>
      <p:pic>
        <p:nvPicPr>
          <p:cNvPr id="7" name="Picture 6" descr="The image depicts the logo of Universitat Passau, featuring a stylized orange and white gradient, with an open book and a circular emblem.&#10;&#10;AI-generated content may be incorrect.">
            <a:extLst>
              <a:ext uri="{FF2B5EF4-FFF2-40B4-BE49-F238E27FC236}">
                <a16:creationId xmlns:a16="http://schemas.microsoft.com/office/drawing/2014/main" id="{47FE168E-86A4-6CEA-2CE8-7AF8CF1EE42B}"/>
              </a:ext>
            </a:extLst>
          </p:cNvPr>
          <p:cNvPicPr>
            <a:picLocks noChangeAspect="1"/>
          </p:cNvPicPr>
          <p:nvPr/>
        </p:nvPicPr>
        <p:blipFill>
          <a:blip r:embed="rId3"/>
          <a:stretch>
            <a:fillRect/>
          </a:stretch>
        </p:blipFill>
        <p:spPr>
          <a:xfrm>
            <a:off x="9657522" y="73352"/>
            <a:ext cx="2451653" cy="6152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7315200" cy="169277"/>
          </a:xfrm>
          <a:prstGeom prst="rect">
            <a:avLst/>
          </a:prstGeom>
          <a:noFill/>
        </p:spPr>
        <p:txBody>
          <a:bodyPr wrap="square" lIns="25400" tIns="0" rIns="25400" bIns="0">
            <a:spAutoFit/>
          </a:bodyPr>
          <a:lstStyle/>
          <a:p>
            <a:pPr algn="l"/>
            <a:r>
              <a:rPr lang="en-GB" sz="1100" b="1" i="0" dirty="0">
                <a:solidFill>
                  <a:srgbClr val="534AB7"/>
                </a:solidFill>
                <a:latin typeface="Segoe UI"/>
              </a:rPr>
              <a:t>Slide</a:t>
            </a:r>
            <a:r>
              <a:rPr sz="1100" b="1" i="0" dirty="0">
                <a:solidFill>
                  <a:srgbClr val="534AB7"/>
                </a:solidFill>
                <a:latin typeface="Segoe UI"/>
              </a:rPr>
              <a:t> 1 · REACT LOOP</a:t>
            </a:r>
          </a:p>
        </p:txBody>
      </p:sp>
      <p:sp>
        <p:nvSpPr>
          <p:cNvPr id="3" name="TextBox 2"/>
          <p:cNvSpPr txBox="1"/>
          <p:nvPr/>
        </p:nvSpPr>
        <p:spPr>
          <a:xfrm>
            <a:off x="457200" y="475488"/>
            <a:ext cx="2601033" cy="446276"/>
          </a:xfrm>
          <a:prstGeom prst="rect">
            <a:avLst/>
          </a:prstGeom>
          <a:noFill/>
        </p:spPr>
        <p:txBody>
          <a:bodyPr wrap="none">
            <a:spAutoFit/>
          </a:bodyPr>
          <a:lstStyle/>
          <a:p>
            <a:r>
              <a:rPr lang="en-GB" sz="2300" b="1" dirty="0" err="1">
                <a:solidFill>
                  <a:srgbClr val="2C2C2A"/>
                </a:solidFill>
                <a:latin typeface="Segoe UI"/>
              </a:rPr>
              <a:t>ReAct</a:t>
            </a:r>
            <a:r>
              <a:rPr lang="en-GB" sz="2300" b="1" dirty="0">
                <a:solidFill>
                  <a:srgbClr val="2C2C2A"/>
                </a:solidFill>
                <a:latin typeface="Segoe UI"/>
              </a:rPr>
              <a:t> loop graph</a:t>
            </a:r>
            <a:endParaRPr sz="2300" b="1" dirty="0">
              <a:solidFill>
                <a:srgbClr val="2C2C2A"/>
              </a:solidFill>
              <a:latin typeface="Segoe UI"/>
            </a:endParaRPr>
          </a:p>
        </p:txBody>
      </p:sp>
      <p:sp>
        <p:nvSpPr>
          <p:cNvPr id="4" name="Rounded Rectangle 3"/>
          <p:cNvSpPr/>
          <p:nvPr/>
        </p:nvSpPr>
        <p:spPr>
          <a:xfrm>
            <a:off x="457200" y="2195139"/>
            <a:ext cx="2011680" cy="777240"/>
          </a:xfrm>
          <a:prstGeom prst="roundRect">
            <a:avLst>
              <a:gd name="adj" fmla="val 1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26215C"/>
                </a:solidFill>
                <a:latin typeface="Segoe UI"/>
              </a:rPr>
              <a:t>context</a:t>
            </a:r>
          </a:p>
          <a:p>
            <a:pPr algn="ctr"/>
            <a:r>
              <a:rPr sz="1000">
                <a:solidFill>
                  <a:srgbClr val="2C2C2A"/>
                </a:solidFill>
                <a:latin typeface="Segoe UI"/>
              </a:rPr>
              <a:t>soul.md + history + tool schemas</a:t>
            </a:r>
          </a:p>
        </p:txBody>
      </p:sp>
      <p:sp>
        <p:nvSpPr>
          <p:cNvPr id="5" name="Rounded Rectangle 4"/>
          <p:cNvSpPr/>
          <p:nvPr/>
        </p:nvSpPr>
        <p:spPr>
          <a:xfrm>
            <a:off x="3154680" y="2195139"/>
            <a:ext cx="2103120" cy="777240"/>
          </a:xfrm>
          <a:prstGeom prst="roundRect">
            <a:avLst>
              <a:gd name="adj" fmla="val 10000"/>
            </a:avLst>
          </a:prstGeom>
          <a:solidFill>
            <a:srgbClr val="F1EFE8"/>
          </a:solidFill>
          <a:ln w="12700">
            <a:solidFill>
              <a:srgbClr val="5F5E5A"/>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dirty="0" err="1">
                <a:solidFill>
                  <a:srgbClr val="2C2C2A"/>
                </a:solidFill>
                <a:latin typeface="Segoe UI"/>
              </a:rPr>
              <a:t>llm.chat</a:t>
            </a:r>
            <a:r>
              <a:rPr sz="1300" b="1" dirty="0">
                <a:solidFill>
                  <a:srgbClr val="2C2C2A"/>
                </a:solidFill>
                <a:latin typeface="Segoe UI"/>
              </a:rPr>
              <a:t>()</a:t>
            </a:r>
          </a:p>
          <a:p>
            <a:pPr algn="ctr"/>
            <a:r>
              <a:rPr lang="en-GB" sz="1000" dirty="0">
                <a:solidFill>
                  <a:srgbClr val="2C2C2A"/>
                </a:solidFill>
                <a:latin typeface="Segoe UI"/>
              </a:rPr>
              <a:t>models</a:t>
            </a:r>
            <a:r>
              <a:rPr sz="1000" dirty="0">
                <a:solidFill>
                  <a:srgbClr val="2C2C2A"/>
                </a:solidFill>
                <a:latin typeface="Segoe UI"/>
              </a:rPr>
              <a:t> · tool</a:t>
            </a:r>
            <a:r>
              <a:rPr lang="en-GB" sz="1000" dirty="0">
                <a:solidFill>
                  <a:srgbClr val="2C2C2A"/>
                </a:solidFill>
                <a:latin typeface="Segoe UI"/>
              </a:rPr>
              <a:t>s</a:t>
            </a:r>
            <a:endParaRPr sz="1000" dirty="0">
              <a:solidFill>
                <a:srgbClr val="2C2C2A"/>
              </a:solidFill>
              <a:latin typeface="Segoe UI"/>
            </a:endParaRPr>
          </a:p>
        </p:txBody>
      </p:sp>
      <p:sp>
        <p:nvSpPr>
          <p:cNvPr id="6" name="Diamond 5"/>
          <p:cNvSpPr/>
          <p:nvPr/>
        </p:nvSpPr>
        <p:spPr>
          <a:xfrm>
            <a:off x="5897880" y="2222571"/>
            <a:ext cx="1691640" cy="722376"/>
          </a:xfrm>
          <a:prstGeom prst="diamond">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100" b="1">
                <a:solidFill>
                  <a:srgbClr val="412402"/>
                </a:solidFill>
                <a:latin typeface="Segoe UI"/>
              </a:rPr>
              <a:t>tool_calls?</a:t>
            </a:r>
          </a:p>
        </p:txBody>
      </p:sp>
      <p:sp>
        <p:nvSpPr>
          <p:cNvPr id="7" name="Rounded Rectangle 6"/>
          <p:cNvSpPr/>
          <p:nvPr/>
        </p:nvSpPr>
        <p:spPr>
          <a:xfrm>
            <a:off x="8001000" y="2195139"/>
            <a:ext cx="1828800" cy="777240"/>
          </a:xfrm>
          <a:prstGeom prst="roundRect">
            <a:avLst>
              <a:gd name="adj" fmla="val 10000"/>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dirty="0" err="1">
                <a:solidFill>
                  <a:srgbClr val="04342C"/>
                </a:solidFill>
                <a:latin typeface="Segoe UI"/>
              </a:rPr>
              <a:t>ToolRegistry</a:t>
            </a:r>
            <a:endParaRPr sz="1300" b="1" dirty="0">
              <a:solidFill>
                <a:srgbClr val="04342C"/>
              </a:solidFill>
              <a:latin typeface="Segoe UI"/>
            </a:endParaRPr>
          </a:p>
          <a:p>
            <a:pPr algn="ctr"/>
            <a:r>
              <a:rPr sz="1000" dirty="0">
                <a:solidFill>
                  <a:srgbClr val="2C2C2A"/>
                </a:solidFill>
                <a:latin typeface="Segoe UI"/>
              </a:rPr>
              <a:t>the single chokepoint</a:t>
            </a:r>
          </a:p>
        </p:txBody>
      </p:sp>
      <p:sp>
        <p:nvSpPr>
          <p:cNvPr id="8" name="Rounded Rectangle 7"/>
          <p:cNvSpPr/>
          <p:nvPr/>
        </p:nvSpPr>
        <p:spPr>
          <a:xfrm>
            <a:off x="10149840" y="2195139"/>
            <a:ext cx="1691640" cy="777240"/>
          </a:xfrm>
          <a:prstGeom prst="roundRect">
            <a:avLst>
              <a:gd name="adj" fmla="val 10000"/>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200" b="1">
                <a:solidFill>
                  <a:srgbClr val="04342C"/>
                </a:solidFill>
                <a:latin typeface="Segoe UI"/>
              </a:rPr>
              <a:t>execute()</a:t>
            </a:r>
          </a:p>
          <a:p>
            <a:pPr algn="ctr"/>
            <a:r>
              <a:rPr sz="1000">
                <a:solidFill>
                  <a:srgbClr val="2C2C2A"/>
                </a:solidFill>
                <a:latin typeface="Segoe UI"/>
              </a:rPr>
              <a:t>gate → run → str</a:t>
            </a:r>
          </a:p>
        </p:txBody>
      </p:sp>
      <p:sp>
        <p:nvSpPr>
          <p:cNvPr id="9" name="Rounded Rectangle 8"/>
          <p:cNvSpPr/>
          <p:nvPr/>
        </p:nvSpPr>
        <p:spPr>
          <a:xfrm>
            <a:off x="9692640" y="4240095"/>
            <a:ext cx="2148840" cy="777240"/>
          </a:xfrm>
          <a:prstGeom prst="roundRect">
            <a:avLst>
              <a:gd name="adj" fmla="val 1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300" b="1">
                <a:solidFill>
                  <a:srgbClr val="26215C"/>
                </a:solidFill>
                <a:latin typeface="Segoe UI"/>
              </a:rPr>
              <a:t>observation</a:t>
            </a:r>
          </a:p>
          <a:p>
            <a:pPr algn="ctr"/>
            <a:r>
              <a:rPr sz="1000">
                <a:solidFill>
                  <a:srgbClr val="2C2C2A"/>
                </a:solidFill>
                <a:latin typeface="Segoe UI"/>
              </a:rPr>
              <a:t>result appended as TOOL msg</a:t>
            </a:r>
          </a:p>
        </p:txBody>
      </p:sp>
      <p:sp>
        <p:nvSpPr>
          <p:cNvPr id="10" name="Rounded Rectangle 9"/>
          <p:cNvSpPr/>
          <p:nvPr/>
        </p:nvSpPr>
        <p:spPr>
          <a:xfrm>
            <a:off x="5715000" y="4252538"/>
            <a:ext cx="2057400" cy="777240"/>
          </a:xfrm>
          <a:prstGeom prst="roundRect">
            <a:avLst>
              <a:gd name="adj" fmla="val 10000"/>
            </a:avLst>
          </a:prstGeom>
          <a:solidFill>
            <a:srgbClr val="EAF3DE"/>
          </a:solidFill>
          <a:ln w="12700">
            <a:solidFill>
              <a:srgbClr val="3B6D11"/>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200" b="1">
                <a:solidFill>
                  <a:srgbClr val="173404"/>
                </a:solidFill>
                <a:latin typeface="Segoe UI"/>
              </a:rPr>
              <a:t>final answer</a:t>
            </a:r>
          </a:p>
          <a:p>
            <a:pPr algn="ctr"/>
            <a:r>
              <a:rPr sz="1000">
                <a:solidFill>
                  <a:srgbClr val="2C2C2A"/>
                </a:solidFill>
                <a:latin typeface="Segoe UI"/>
              </a:rPr>
              <a:t>tokens + iters reported</a:t>
            </a:r>
          </a:p>
        </p:txBody>
      </p:sp>
      <p:cxnSp>
        <p:nvCxnSpPr>
          <p:cNvPr id="11" name="Connector 10"/>
          <p:cNvCxnSpPr/>
          <p:nvPr/>
        </p:nvCxnSpPr>
        <p:spPr>
          <a:xfrm>
            <a:off x="2468880" y="2583759"/>
            <a:ext cx="685800" cy="0"/>
          </a:xfrm>
          <a:prstGeom prst="line">
            <a:avLst/>
          </a:prstGeom>
          <a:ln w="19050">
            <a:solidFill>
              <a:srgbClr val="534AB7"/>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57800" y="2583759"/>
            <a:ext cx="640080" cy="0"/>
          </a:xfrm>
          <a:prstGeom prst="line">
            <a:avLst/>
          </a:prstGeom>
          <a:ln w="19050">
            <a:solidFill>
              <a:srgbClr val="5F5E5A"/>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589520" y="2583759"/>
            <a:ext cx="411480" cy="0"/>
          </a:xfrm>
          <a:prstGeom prst="line">
            <a:avLst/>
          </a:prstGeom>
          <a:ln w="25400">
            <a:solidFill>
              <a:srgbClr val="854F0B"/>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07808" y="2291150"/>
            <a:ext cx="731520" cy="320040"/>
          </a:xfrm>
          <a:prstGeom prst="rect">
            <a:avLst/>
          </a:prstGeom>
          <a:noFill/>
        </p:spPr>
        <p:txBody>
          <a:bodyPr wrap="square" lIns="25400" tIns="0" rIns="25400" bIns="0">
            <a:spAutoFit/>
          </a:bodyPr>
          <a:lstStyle/>
          <a:p>
            <a:pPr algn="l"/>
            <a:r>
              <a:rPr sz="1000" b="1" i="0">
                <a:solidFill>
                  <a:srgbClr val="854F0B"/>
                </a:solidFill>
                <a:latin typeface="Segoe UI"/>
              </a:rPr>
              <a:t>yes</a:t>
            </a:r>
          </a:p>
        </p:txBody>
      </p:sp>
      <p:cxnSp>
        <p:nvCxnSpPr>
          <p:cNvPr id="15" name="Connector 14"/>
          <p:cNvCxnSpPr/>
          <p:nvPr/>
        </p:nvCxnSpPr>
        <p:spPr>
          <a:xfrm>
            <a:off x="9829800" y="2583759"/>
            <a:ext cx="320040" cy="0"/>
          </a:xfrm>
          <a:prstGeom prst="line">
            <a:avLst/>
          </a:prstGeom>
          <a:ln w="19050">
            <a:solidFill>
              <a:srgbClr val="0F6E56"/>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a:cxnSpLocks/>
          </p:cNvCxnSpPr>
          <p:nvPr/>
        </p:nvCxnSpPr>
        <p:spPr>
          <a:xfrm>
            <a:off x="10607040" y="2972379"/>
            <a:ext cx="0" cy="1280159"/>
          </a:xfrm>
          <a:prstGeom prst="line">
            <a:avLst/>
          </a:prstGeom>
          <a:ln w="25400">
            <a:solidFill>
              <a:srgbClr val="0F6E56"/>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743700" y="2944947"/>
            <a:ext cx="0" cy="1307591"/>
          </a:xfrm>
          <a:prstGeom prst="line">
            <a:avLst/>
          </a:prstGeom>
          <a:ln w="19050">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76288" y="3338139"/>
            <a:ext cx="1097280" cy="320040"/>
          </a:xfrm>
          <a:prstGeom prst="rect">
            <a:avLst/>
          </a:prstGeom>
          <a:noFill/>
        </p:spPr>
        <p:txBody>
          <a:bodyPr wrap="square" lIns="25400" tIns="0" rIns="25400" bIns="0">
            <a:spAutoFit/>
          </a:bodyPr>
          <a:lstStyle/>
          <a:p>
            <a:pPr algn="l"/>
            <a:r>
              <a:rPr sz="1000" b="1" i="0">
                <a:solidFill>
                  <a:srgbClr val="3B6D11"/>
                </a:solidFill>
                <a:latin typeface="Segoe UI"/>
              </a:rPr>
              <a:t>no</a:t>
            </a:r>
          </a:p>
        </p:txBody>
      </p:sp>
      <p:cxnSp>
        <p:nvCxnSpPr>
          <p:cNvPr id="19" name="Connector 18"/>
          <p:cNvCxnSpPr/>
          <p:nvPr/>
        </p:nvCxnSpPr>
        <p:spPr>
          <a:xfrm>
            <a:off x="10607040" y="5029778"/>
            <a:ext cx="0" cy="457201"/>
          </a:xfrm>
          <a:prstGeom prst="line">
            <a:avLst/>
          </a:prstGeom>
          <a:ln w="25400">
            <a:solidFill>
              <a:srgbClr val="534AB7"/>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463040" y="5486979"/>
            <a:ext cx="9144000" cy="0"/>
          </a:xfrm>
          <a:prstGeom prst="line">
            <a:avLst/>
          </a:prstGeom>
          <a:ln w="25400">
            <a:solidFill>
              <a:srgbClr val="534AB7"/>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63040" y="2972379"/>
            <a:ext cx="0" cy="2514600"/>
          </a:xfrm>
          <a:prstGeom prst="line">
            <a:avLst/>
          </a:prstGeom>
          <a:ln w="25400">
            <a:solidFill>
              <a:srgbClr val="534AB7"/>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17520" y="5532699"/>
            <a:ext cx="6035040" cy="320040"/>
          </a:xfrm>
          <a:prstGeom prst="rect">
            <a:avLst/>
          </a:prstGeom>
          <a:noFill/>
        </p:spPr>
        <p:txBody>
          <a:bodyPr wrap="square" lIns="82296" tIns="36576" rIns="82296" bIns="36576" anchor="ctr">
            <a:noAutofit/>
          </a:bodyPr>
          <a:lstStyle/>
          <a:p>
            <a:pPr algn="ctr">
              <a:spcBef>
                <a:spcPts val="0"/>
              </a:spcBef>
              <a:spcAft>
                <a:spcPts val="200"/>
              </a:spcAft>
            </a:pPr>
            <a:r>
              <a:rPr sz="1200" b="1">
                <a:solidFill>
                  <a:srgbClr val="26215C"/>
                </a:solidFill>
                <a:latin typeface="Segoe UI"/>
              </a:rPr>
              <a:t>next iteration — updated message context returns to the model</a:t>
            </a:r>
          </a:p>
        </p:txBody>
      </p:sp>
      <p:pic>
        <p:nvPicPr>
          <p:cNvPr id="25" name="Picture 24" descr="The image depicts the logo of Universitat Passau, featuring a stylized orange and white gradient, with an open book and a circular emblem.&#10;&#10;AI-generated content may be incorrect.">
            <a:extLst>
              <a:ext uri="{FF2B5EF4-FFF2-40B4-BE49-F238E27FC236}">
                <a16:creationId xmlns:a16="http://schemas.microsoft.com/office/drawing/2014/main" id="{53DD6D46-D5CB-6BC8-9C05-5B92326EE136}"/>
              </a:ext>
            </a:extLst>
          </p:cNvPr>
          <p:cNvPicPr>
            <a:picLocks noChangeAspect="1"/>
          </p:cNvPicPr>
          <p:nvPr/>
        </p:nvPicPr>
        <p:blipFill>
          <a:blip r:embed="rId3"/>
          <a:stretch>
            <a:fillRect/>
          </a:stretch>
        </p:blipFill>
        <p:spPr>
          <a:xfrm>
            <a:off x="9657522" y="73352"/>
            <a:ext cx="2451653" cy="6152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E1CF07C-F4E4-7091-3F64-04EBD57640A0}"/>
              </a:ext>
            </a:extLst>
          </p:cNvPr>
          <p:cNvSpPr/>
          <p:nvPr/>
        </p:nvSpPr>
        <p:spPr>
          <a:xfrm>
            <a:off x="8116940" y="4303873"/>
            <a:ext cx="3882920" cy="179986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a:p>
        </p:txBody>
      </p:sp>
      <p:sp>
        <p:nvSpPr>
          <p:cNvPr id="29" name="Rectangle 28">
            <a:extLst>
              <a:ext uri="{FF2B5EF4-FFF2-40B4-BE49-F238E27FC236}">
                <a16:creationId xmlns:a16="http://schemas.microsoft.com/office/drawing/2014/main" id="{A2DC1C11-680C-BF7D-4CFF-E67D5F0F374E}"/>
              </a:ext>
            </a:extLst>
          </p:cNvPr>
          <p:cNvSpPr/>
          <p:nvPr/>
        </p:nvSpPr>
        <p:spPr>
          <a:xfrm>
            <a:off x="192140" y="4234887"/>
            <a:ext cx="5974466" cy="179986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DE"/>
          </a:p>
        </p:txBody>
      </p:sp>
      <p:sp>
        <p:nvSpPr>
          <p:cNvPr id="2" name="TextBox 1"/>
          <p:cNvSpPr txBox="1"/>
          <p:nvPr/>
        </p:nvSpPr>
        <p:spPr>
          <a:xfrm>
            <a:off x="502920" y="256032"/>
            <a:ext cx="7315200" cy="169277"/>
          </a:xfrm>
          <a:prstGeom prst="rect">
            <a:avLst/>
          </a:prstGeom>
          <a:noFill/>
        </p:spPr>
        <p:txBody>
          <a:bodyPr wrap="square" lIns="25400" tIns="0" rIns="25400" bIns="0">
            <a:spAutoFit/>
          </a:bodyPr>
          <a:lstStyle/>
          <a:p>
            <a:pPr algn="l"/>
            <a:r>
              <a:rPr lang="en-GB" sz="1100" b="1" i="0" dirty="0">
                <a:solidFill>
                  <a:srgbClr val="534AB7"/>
                </a:solidFill>
                <a:latin typeface="Segoe UI"/>
              </a:rPr>
              <a:t>Slide</a:t>
            </a:r>
            <a:r>
              <a:rPr sz="1100" b="1" i="0" dirty="0">
                <a:solidFill>
                  <a:srgbClr val="534AB7"/>
                </a:solidFill>
                <a:latin typeface="Segoe UI"/>
              </a:rPr>
              <a:t> 2 · </a:t>
            </a:r>
            <a:r>
              <a:rPr lang="en-GB" sz="1100" b="1" i="0" dirty="0">
                <a:solidFill>
                  <a:srgbClr val="534AB7"/>
                </a:solidFill>
                <a:latin typeface="Segoe UI"/>
              </a:rPr>
              <a:t>MCP server</a:t>
            </a:r>
            <a:endParaRPr sz="1100" b="1" i="0" dirty="0">
              <a:solidFill>
                <a:srgbClr val="534AB7"/>
              </a:solidFill>
              <a:latin typeface="Segoe UI"/>
            </a:endParaRPr>
          </a:p>
        </p:txBody>
      </p:sp>
      <p:sp>
        <p:nvSpPr>
          <p:cNvPr id="3" name="TextBox 2"/>
          <p:cNvSpPr txBox="1"/>
          <p:nvPr/>
        </p:nvSpPr>
        <p:spPr>
          <a:xfrm>
            <a:off x="457200" y="475488"/>
            <a:ext cx="4970528" cy="446276"/>
          </a:xfrm>
          <a:prstGeom prst="rect">
            <a:avLst/>
          </a:prstGeom>
          <a:noFill/>
        </p:spPr>
        <p:txBody>
          <a:bodyPr wrap="none">
            <a:spAutoFit/>
          </a:bodyPr>
          <a:lstStyle/>
          <a:p>
            <a:r>
              <a:rPr sz="2300" b="1" dirty="0">
                <a:solidFill>
                  <a:srgbClr val="2C2C2A"/>
                </a:solidFill>
                <a:latin typeface="Segoe UI"/>
              </a:rPr>
              <a:t>MCP</a:t>
            </a:r>
            <a:r>
              <a:rPr lang="en-GB" sz="2300" b="1" dirty="0">
                <a:solidFill>
                  <a:srgbClr val="2C2C2A"/>
                </a:solidFill>
                <a:latin typeface="Segoe UI"/>
              </a:rPr>
              <a:t> server implementation graph</a:t>
            </a:r>
            <a:endParaRPr sz="2300" b="1" dirty="0">
              <a:solidFill>
                <a:srgbClr val="2C2C2A"/>
              </a:solidFill>
              <a:latin typeface="Segoe UI"/>
            </a:endParaRPr>
          </a:p>
        </p:txBody>
      </p:sp>
      <p:sp>
        <p:nvSpPr>
          <p:cNvPr id="4" name="Rounded Rectangle 3"/>
          <p:cNvSpPr/>
          <p:nvPr/>
        </p:nvSpPr>
        <p:spPr>
          <a:xfrm>
            <a:off x="4892040" y="1371600"/>
            <a:ext cx="2468880" cy="868680"/>
          </a:xfrm>
          <a:prstGeom prst="roundRect">
            <a:avLst>
              <a:gd name="adj" fmla="val 10000"/>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400" b="1" dirty="0" err="1">
                <a:solidFill>
                  <a:srgbClr val="04342C"/>
                </a:solidFill>
                <a:latin typeface="Segoe UI"/>
              </a:rPr>
              <a:t>StudyMate</a:t>
            </a:r>
            <a:endParaRPr sz="1400" b="1" dirty="0">
              <a:solidFill>
                <a:srgbClr val="04342C"/>
              </a:solidFill>
              <a:latin typeface="Segoe UI"/>
            </a:endParaRPr>
          </a:p>
          <a:p>
            <a:pPr algn="ctr"/>
            <a:r>
              <a:rPr sz="900" dirty="0">
                <a:solidFill>
                  <a:srgbClr val="2C2C2A"/>
                </a:solidFill>
                <a:latin typeface="Segoe UI"/>
              </a:rPr>
              <a:t>engine + registry + gate
(unchanged by all of this)</a:t>
            </a:r>
          </a:p>
        </p:txBody>
      </p:sp>
      <p:sp>
        <p:nvSpPr>
          <p:cNvPr id="5" name="Rounded Rectangle 4"/>
          <p:cNvSpPr/>
          <p:nvPr/>
        </p:nvSpPr>
        <p:spPr>
          <a:xfrm>
            <a:off x="502920" y="2743200"/>
            <a:ext cx="3383280" cy="1051560"/>
          </a:xfrm>
          <a:prstGeom prst="roundRect">
            <a:avLst>
              <a:gd name="adj" fmla="val 1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lang="en-GB" sz="1200" b="1" dirty="0">
                <a:solidFill>
                  <a:srgbClr val="26215C"/>
                </a:solidFill>
                <a:latin typeface="Segoe UI"/>
              </a:rPr>
              <a:t>E</a:t>
            </a:r>
            <a:r>
              <a:rPr sz="1200" b="1" dirty="0" err="1">
                <a:solidFill>
                  <a:srgbClr val="26215C"/>
                </a:solidFill>
                <a:latin typeface="Segoe UI"/>
              </a:rPr>
              <a:t>xpose</a:t>
            </a:r>
            <a:r>
              <a:rPr lang="en-GB" sz="1200" b="1" dirty="0">
                <a:solidFill>
                  <a:srgbClr val="26215C"/>
                </a:solidFill>
                <a:latin typeface="Segoe UI"/>
              </a:rPr>
              <a:t>s :</a:t>
            </a:r>
            <a:r>
              <a:rPr sz="1200" b="1" dirty="0">
                <a:solidFill>
                  <a:srgbClr val="26215C"/>
                </a:solidFill>
                <a:latin typeface="Segoe UI"/>
              </a:rPr>
              <a:t> </a:t>
            </a:r>
            <a:r>
              <a:rPr sz="1200" b="1" dirty="0" err="1">
                <a:solidFill>
                  <a:srgbClr val="26215C"/>
                </a:solidFill>
                <a:latin typeface="Segoe UI"/>
              </a:rPr>
              <a:t>FastMCP</a:t>
            </a:r>
            <a:r>
              <a:rPr sz="1200" b="1" dirty="0">
                <a:solidFill>
                  <a:srgbClr val="26215C"/>
                </a:solidFill>
                <a:latin typeface="Segoe UI"/>
              </a:rPr>
              <a:t> server</a:t>
            </a:r>
          </a:p>
          <a:p>
            <a:pPr algn="ctr"/>
            <a:r>
              <a:rPr sz="950" dirty="0">
                <a:solidFill>
                  <a:srgbClr val="2C2C2A"/>
                </a:solidFill>
                <a:latin typeface="Segoe UI"/>
              </a:rPr>
              <a:t>9 Obsidian tools over </a:t>
            </a:r>
            <a:r>
              <a:rPr sz="950" dirty="0" err="1">
                <a:solidFill>
                  <a:srgbClr val="2C2C2A"/>
                </a:solidFill>
                <a:latin typeface="Segoe UI"/>
              </a:rPr>
              <a:t>stdio</a:t>
            </a:r>
            <a:endParaRPr sz="950" dirty="0">
              <a:solidFill>
                <a:srgbClr val="2C2C2A"/>
              </a:solidFill>
              <a:latin typeface="Segoe UI"/>
            </a:endParaRPr>
          </a:p>
        </p:txBody>
      </p:sp>
      <p:sp>
        <p:nvSpPr>
          <p:cNvPr id="7" name="Rounded Rectangle 6"/>
          <p:cNvSpPr/>
          <p:nvPr/>
        </p:nvSpPr>
        <p:spPr>
          <a:xfrm>
            <a:off x="8366760" y="2743200"/>
            <a:ext cx="3383280" cy="1051560"/>
          </a:xfrm>
          <a:prstGeom prst="roundRect">
            <a:avLst>
              <a:gd name="adj" fmla="val 10000"/>
            </a:avLst>
          </a:prstGeom>
          <a:solidFill>
            <a:srgbClr val="EAF3DE"/>
          </a:solidFill>
          <a:ln w="12700">
            <a:solidFill>
              <a:srgbClr val="3B6D11"/>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lang="en-GB" sz="1200" b="1" dirty="0">
                <a:solidFill>
                  <a:srgbClr val="173404"/>
                </a:solidFill>
                <a:latin typeface="Segoe UI"/>
              </a:rPr>
              <a:t>C</a:t>
            </a:r>
            <a:r>
              <a:rPr sz="1200" b="1" dirty="0" err="1">
                <a:solidFill>
                  <a:srgbClr val="173404"/>
                </a:solidFill>
                <a:latin typeface="Segoe UI"/>
              </a:rPr>
              <a:t>onsume</a:t>
            </a:r>
            <a:r>
              <a:rPr lang="en-GB" sz="1200" b="1" dirty="0">
                <a:solidFill>
                  <a:srgbClr val="173404"/>
                </a:solidFill>
                <a:latin typeface="Segoe UI"/>
              </a:rPr>
              <a:t>s</a:t>
            </a:r>
            <a:r>
              <a:rPr sz="1200" b="1" dirty="0">
                <a:solidFill>
                  <a:srgbClr val="173404"/>
                </a:solidFill>
                <a:latin typeface="Segoe UI"/>
              </a:rPr>
              <a:t> </a:t>
            </a:r>
            <a:r>
              <a:rPr lang="en-GB" sz="1200" b="1" dirty="0">
                <a:solidFill>
                  <a:srgbClr val="173404"/>
                </a:solidFill>
                <a:latin typeface="Segoe UI"/>
              </a:rPr>
              <a:t>: </a:t>
            </a:r>
            <a:r>
              <a:rPr sz="1200" b="1" dirty="0">
                <a:solidFill>
                  <a:srgbClr val="173404"/>
                </a:solidFill>
                <a:latin typeface="Segoe UI"/>
              </a:rPr>
              <a:t>MCP client</a:t>
            </a:r>
          </a:p>
          <a:p>
            <a:pPr algn="ctr"/>
            <a:r>
              <a:rPr sz="950" dirty="0" err="1">
                <a:solidFill>
                  <a:srgbClr val="2C2C2A"/>
                </a:solidFill>
                <a:latin typeface="Segoe UI"/>
              </a:rPr>
              <a:t>duckduckgo</a:t>
            </a:r>
            <a:r>
              <a:rPr sz="950" dirty="0">
                <a:solidFill>
                  <a:srgbClr val="2C2C2A"/>
                </a:solidFill>
                <a:latin typeface="Segoe UI"/>
              </a:rPr>
              <a:t>-</a:t>
            </a:r>
            <a:r>
              <a:rPr sz="950" dirty="0" err="1">
                <a:solidFill>
                  <a:srgbClr val="2C2C2A"/>
                </a:solidFill>
                <a:latin typeface="Segoe UI"/>
              </a:rPr>
              <a:t>mcp</a:t>
            </a:r>
            <a:r>
              <a:rPr sz="950" dirty="0">
                <a:solidFill>
                  <a:srgbClr val="2C2C2A"/>
                </a:solidFill>
                <a:latin typeface="Segoe UI"/>
              </a:rPr>
              <a:t>-server over </a:t>
            </a:r>
            <a:r>
              <a:rPr sz="950" dirty="0" err="1">
                <a:solidFill>
                  <a:srgbClr val="2C2C2A"/>
                </a:solidFill>
                <a:latin typeface="Segoe UI"/>
              </a:rPr>
              <a:t>stdio</a:t>
            </a:r>
            <a:endParaRPr sz="950" dirty="0">
              <a:solidFill>
                <a:srgbClr val="2C2C2A"/>
              </a:solidFill>
              <a:latin typeface="Segoe UI"/>
            </a:endParaRPr>
          </a:p>
        </p:txBody>
      </p:sp>
      <p:cxnSp>
        <p:nvCxnSpPr>
          <p:cNvPr id="9" name="Connector 8"/>
          <p:cNvCxnSpPr>
            <a:cxnSpLocks/>
            <a:stCxn id="4" idx="1"/>
            <a:endCxn id="5" idx="0"/>
          </p:cNvCxnSpPr>
          <p:nvPr/>
        </p:nvCxnSpPr>
        <p:spPr>
          <a:xfrm rot="10800000" flipV="1">
            <a:off x="2194560" y="1805940"/>
            <a:ext cx="2697480" cy="937260"/>
          </a:xfrm>
          <a:prstGeom prst="bentConnector2">
            <a:avLst/>
          </a:prstGeom>
          <a:ln w="22225">
            <a:solidFill>
              <a:srgbClr val="534AB7"/>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a:cxnSpLocks/>
            <a:stCxn id="4" idx="3"/>
            <a:endCxn id="7" idx="0"/>
          </p:cNvCxnSpPr>
          <p:nvPr/>
        </p:nvCxnSpPr>
        <p:spPr>
          <a:xfrm>
            <a:off x="7360920" y="1805940"/>
            <a:ext cx="2697480" cy="937260"/>
          </a:xfrm>
          <a:prstGeom prst="bentConnector2">
            <a:avLst/>
          </a:prstGeom>
          <a:ln w="22225">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2395728"/>
            <a:ext cx="1215502" cy="153888"/>
          </a:xfrm>
          <a:prstGeom prst="rect">
            <a:avLst/>
          </a:prstGeom>
          <a:noFill/>
        </p:spPr>
        <p:txBody>
          <a:bodyPr wrap="square" lIns="25400" tIns="0" rIns="25400" bIns="0">
            <a:spAutoFit/>
          </a:bodyPr>
          <a:lstStyle/>
          <a:p>
            <a:pPr algn="l"/>
            <a:r>
              <a:rPr sz="1000" b="1" i="0">
                <a:solidFill>
                  <a:srgbClr val="534AB7"/>
                </a:solidFill>
                <a:latin typeface="Segoe UI"/>
              </a:rPr>
              <a:t>outbound</a:t>
            </a:r>
          </a:p>
        </p:txBody>
      </p:sp>
      <p:sp>
        <p:nvSpPr>
          <p:cNvPr id="16" name="TextBox 15"/>
          <p:cNvSpPr txBox="1"/>
          <p:nvPr/>
        </p:nvSpPr>
        <p:spPr>
          <a:xfrm>
            <a:off x="10534536" y="2395728"/>
            <a:ext cx="1154543" cy="153888"/>
          </a:xfrm>
          <a:prstGeom prst="rect">
            <a:avLst/>
          </a:prstGeom>
          <a:noFill/>
        </p:spPr>
        <p:txBody>
          <a:bodyPr wrap="square" lIns="25400" tIns="0" rIns="25400" bIns="0">
            <a:spAutoFit/>
          </a:bodyPr>
          <a:lstStyle/>
          <a:p>
            <a:pPr algn="r"/>
            <a:r>
              <a:rPr sz="1000" b="1" i="0" dirty="0">
                <a:solidFill>
                  <a:srgbClr val="3B6D11"/>
                </a:solidFill>
                <a:latin typeface="Segoe UI"/>
              </a:rPr>
              <a:t>inbound</a:t>
            </a:r>
          </a:p>
        </p:txBody>
      </p:sp>
      <p:sp>
        <p:nvSpPr>
          <p:cNvPr id="26" name="ToolChip_web_search"/>
          <p:cNvSpPr/>
          <p:nvPr/>
        </p:nvSpPr>
        <p:spPr>
          <a:xfrm>
            <a:off x="8366760" y="4463951"/>
            <a:ext cx="3383280" cy="402336"/>
          </a:xfrm>
          <a:prstGeom prst="roundRect">
            <a:avLst/>
          </a:prstGeom>
          <a:solidFill>
            <a:srgbClr val="EAF3DE"/>
          </a:solidFill>
          <a:ln w="12700">
            <a:solidFill>
              <a:srgbClr val="3B6D11"/>
            </a:solidFill>
          </a:ln>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r>
              <a:rPr sz="900" b="1">
                <a:solidFill>
                  <a:srgbClr val="173404"/>
                </a:solidFill>
                <a:latin typeface="Segoe UI"/>
              </a:rPr>
              <a:t>web_search</a:t>
            </a:r>
          </a:p>
        </p:txBody>
      </p:sp>
      <p:sp>
        <p:nvSpPr>
          <p:cNvPr id="27" name="ToolChip_fetch_web_content"/>
          <p:cNvSpPr/>
          <p:nvPr/>
        </p:nvSpPr>
        <p:spPr>
          <a:xfrm>
            <a:off x="8366760" y="5004083"/>
            <a:ext cx="3383280" cy="402336"/>
          </a:xfrm>
          <a:prstGeom prst="roundRect">
            <a:avLst/>
          </a:prstGeom>
          <a:solidFill>
            <a:srgbClr val="EAF3DE"/>
          </a:solidFill>
          <a:ln w="12700">
            <a:solidFill>
              <a:srgbClr val="3B6D11"/>
            </a:solidFill>
          </a:ln>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r>
              <a:rPr sz="900" b="1">
                <a:solidFill>
                  <a:srgbClr val="173404"/>
                </a:solidFill>
                <a:latin typeface="Segoe UI"/>
              </a:rPr>
              <a:t>fetch_web_content</a:t>
            </a:r>
          </a:p>
        </p:txBody>
      </p:sp>
      <p:sp>
        <p:nvSpPr>
          <p:cNvPr id="28" name="ToolChip_expand_web_link"/>
          <p:cNvSpPr/>
          <p:nvPr/>
        </p:nvSpPr>
        <p:spPr>
          <a:xfrm>
            <a:off x="8366760" y="5544215"/>
            <a:ext cx="3383280" cy="402336"/>
          </a:xfrm>
          <a:prstGeom prst="roundRect">
            <a:avLst/>
          </a:prstGeom>
          <a:solidFill>
            <a:srgbClr val="EAF3DE"/>
          </a:solidFill>
          <a:ln w="12700">
            <a:solidFill>
              <a:srgbClr val="3B6D11"/>
            </a:solidFill>
          </a:ln>
        </p:spPr>
        <p:style>
          <a:lnRef idx="1">
            <a:schemeClr val="accent1"/>
          </a:lnRef>
          <a:fillRef idx="3">
            <a:schemeClr val="accent1"/>
          </a:fillRef>
          <a:effectRef idx="2">
            <a:schemeClr val="accent1"/>
          </a:effectRef>
          <a:fontRef idx="minor">
            <a:schemeClr val="lt1"/>
          </a:fontRef>
        </p:style>
        <p:txBody>
          <a:bodyPr wrap="square" lIns="36576" tIns="9144" rIns="36576" bIns="9144" rtlCol="0" anchor="ctr"/>
          <a:lstStyle/>
          <a:p>
            <a:pPr algn="ctr"/>
            <a:r>
              <a:rPr sz="900" b="1" dirty="0" err="1">
                <a:solidFill>
                  <a:srgbClr val="173404"/>
                </a:solidFill>
                <a:latin typeface="Segoe UI"/>
              </a:rPr>
              <a:t>expand_web_link</a:t>
            </a:r>
            <a:endParaRPr sz="900" b="1" dirty="0">
              <a:solidFill>
                <a:srgbClr val="173404"/>
              </a:solidFill>
              <a:latin typeface="Segoe UI"/>
            </a:endParaRPr>
          </a:p>
        </p:txBody>
      </p:sp>
      <p:cxnSp>
        <p:nvCxnSpPr>
          <p:cNvPr id="32" name="Connector 12">
            <a:extLst>
              <a:ext uri="{FF2B5EF4-FFF2-40B4-BE49-F238E27FC236}">
                <a16:creationId xmlns:a16="http://schemas.microsoft.com/office/drawing/2014/main" id="{5936EF24-90F5-A9A6-E0D9-2C5E6D777CD1}"/>
              </a:ext>
            </a:extLst>
          </p:cNvPr>
          <p:cNvCxnSpPr>
            <a:cxnSpLocks/>
            <a:stCxn id="5" idx="2"/>
            <a:endCxn id="29" idx="0"/>
          </p:cNvCxnSpPr>
          <p:nvPr/>
        </p:nvCxnSpPr>
        <p:spPr>
          <a:xfrm>
            <a:off x="2194560" y="3794760"/>
            <a:ext cx="984813" cy="440127"/>
          </a:xfrm>
          <a:prstGeom prst="line">
            <a:avLst/>
          </a:prstGeom>
          <a:ln w="15875">
            <a:solidFill>
              <a:srgbClr val="5F5E5A"/>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35" name="Connector 13">
            <a:extLst>
              <a:ext uri="{FF2B5EF4-FFF2-40B4-BE49-F238E27FC236}">
                <a16:creationId xmlns:a16="http://schemas.microsoft.com/office/drawing/2014/main" id="{B7696EB1-0A0C-5889-5A3C-780CF08299F3}"/>
              </a:ext>
            </a:extLst>
          </p:cNvPr>
          <p:cNvCxnSpPr>
            <a:cxnSpLocks/>
            <a:stCxn id="7" idx="2"/>
            <a:endCxn id="31" idx="0"/>
          </p:cNvCxnSpPr>
          <p:nvPr/>
        </p:nvCxnSpPr>
        <p:spPr>
          <a:xfrm>
            <a:off x="10058400" y="3794760"/>
            <a:ext cx="0" cy="509113"/>
          </a:xfrm>
          <a:prstGeom prst="line">
            <a:avLst/>
          </a:prstGeom>
          <a:ln w="15875">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36" name="Five read tools"/>
          <p:cNvSpPr/>
          <p:nvPr/>
        </p:nvSpPr>
        <p:spPr>
          <a:xfrm>
            <a:off x="413313" y="4448151"/>
            <a:ext cx="5532120" cy="612648"/>
          </a:xfrm>
          <a:prstGeom prst="roundRect">
            <a:avLst/>
          </a:prstGeom>
          <a:solidFill>
            <a:srgbClr val="EEEDFE"/>
          </a:solidFill>
          <a:ln>
            <a:solidFill>
              <a:srgbClr val="AFA9EC"/>
            </a:solidFill>
          </a:ln>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600" b="1" dirty="0">
                <a:solidFill>
                  <a:srgbClr val="26215C"/>
                </a:solidFill>
                <a:latin typeface="Segoe UI"/>
              </a:rPr>
              <a:t>5 READ tools</a:t>
            </a:r>
          </a:p>
          <a:p>
            <a:pPr algn="ctr">
              <a:spcBef>
                <a:spcPts val="0"/>
              </a:spcBef>
              <a:spcAft>
                <a:spcPts val="200"/>
              </a:spcAft>
            </a:pPr>
            <a:r>
              <a:rPr sz="1500" b="0" dirty="0">
                <a:solidFill>
                  <a:srgbClr val="26215C"/>
                </a:solidFill>
                <a:latin typeface="Segoe UI"/>
              </a:rPr>
              <a:t>List · read · search · outgoing links · backlinks</a:t>
            </a:r>
          </a:p>
        </p:txBody>
      </p:sp>
      <p:sp>
        <p:nvSpPr>
          <p:cNvPr id="37" name="Four write tools"/>
          <p:cNvSpPr/>
          <p:nvPr/>
        </p:nvSpPr>
        <p:spPr>
          <a:xfrm>
            <a:off x="413313" y="5207103"/>
            <a:ext cx="5532120" cy="612648"/>
          </a:xfrm>
          <a:prstGeom prst="roundRect">
            <a:avLst/>
          </a:prstGeom>
          <a:solidFill>
            <a:srgbClr val="EEEDFE"/>
          </a:solidFill>
          <a:ln>
            <a:solidFill>
              <a:srgbClr val="AFA9EC"/>
            </a:solidFill>
          </a:ln>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600" b="1">
                <a:solidFill>
                  <a:srgbClr val="26215C"/>
                </a:solidFill>
                <a:latin typeface="Segoe UI"/>
              </a:rPr>
              <a:t>4 WRITE tools</a:t>
            </a:r>
          </a:p>
          <a:p>
            <a:pPr algn="ctr">
              <a:spcBef>
                <a:spcPts val="0"/>
              </a:spcBef>
              <a:spcAft>
                <a:spcPts val="200"/>
              </a:spcAft>
            </a:pPr>
            <a:r>
              <a:rPr sz="1500" b="0">
                <a:solidFill>
                  <a:srgbClr val="26215C"/>
                </a:solidFill>
                <a:latin typeface="Segoe UI"/>
              </a:rPr>
              <a:t>Write · append · edit · insert into section</a:t>
            </a:r>
          </a:p>
        </p:txBody>
      </p:sp>
      <p:pic>
        <p:nvPicPr>
          <p:cNvPr id="12" name="Picture 11" descr="The image depicts the logo of Universitat Passau, featuring a stylized orange and white gradient, with an open book and a circular emblem.&#10;&#10;AI-generated content may be incorrect.">
            <a:extLst>
              <a:ext uri="{FF2B5EF4-FFF2-40B4-BE49-F238E27FC236}">
                <a16:creationId xmlns:a16="http://schemas.microsoft.com/office/drawing/2014/main" id="{2CFCF973-02CF-688A-E5A5-3C021112BEE6}"/>
              </a:ext>
            </a:extLst>
          </p:cNvPr>
          <p:cNvPicPr>
            <a:picLocks noChangeAspect="1"/>
          </p:cNvPicPr>
          <p:nvPr/>
        </p:nvPicPr>
        <p:blipFill>
          <a:blip r:embed="rId3"/>
          <a:stretch>
            <a:fillRect/>
          </a:stretch>
        </p:blipFill>
        <p:spPr>
          <a:xfrm>
            <a:off x="9657522" y="73352"/>
            <a:ext cx="2451653" cy="6152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7315200" cy="169277"/>
          </a:xfrm>
          <a:prstGeom prst="rect">
            <a:avLst/>
          </a:prstGeom>
          <a:noFill/>
        </p:spPr>
        <p:txBody>
          <a:bodyPr wrap="square" lIns="25400" tIns="0" rIns="25400" bIns="0">
            <a:spAutoFit/>
          </a:bodyPr>
          <a:lstStyle/>
          <a:p>
            <a:pPr algn="l"/>
            <a:r>
              <a:rPr lang="en-GB" sz="1100" b="1" i="0" dirty="0">
                <a:solidFill>
                  <a:srgbClr val="534AB7"/>
                </a:solidFill>
                <a:latin typeface="Segoe UI"/>
              </a:rPr>
              <a:t>Slide</a:t>
            </a:r>
            <a:r>
              <a:rPr sz="1100" b="1" i="0" dirty="0">
                <a:solidFill>
                  <a:srgbClr val="534AB7"/>
                </a:solidFill>
                <a:latin typeface="Segoe UI"/>
              </a:rPr>
              <a:t> 3 ·</a:t>
            </a:r>
            <a:r>
              <a:rPr lang="en-GB" sz="1100" b="1" i="0" dirty="0">
                <a:solidFill>
                  <a:srgbClr val="534AB7"/>
                </a:solidFill>
                <a:latin typeface="Segoe UI"/>
              </a:rPr>
              <a:t> permission management</a:t>
            </a:r>
            <a:endParaRPr sz="1100" b="1" i="0" dirty="0">
              <a:solidFill>
                <a:srgbClr val="534AB7"/>
              </a:solidFill>
              <a:latin typeface="Segoe UI"/>
            </a:endParaRPr>
          </a:p>
        </p:txBody>
      </p:sp>
      <p:sp>
        <p:nvSpPr>
          <p:cNvPr id="3" name="TextBox 2"/>
          <p:cNvSpPr txBox="1"/>
          <p:nvPr/>
        </p:nvSpPr>
        <p:spPr>
          <a:xfrm>
            <a:off x="457200" y="475488"/>
            <a:ext cx="6808339" cy="446276"/>
          </a:xfrm>
          <a:prstGeom prst="rect">
            <a:avLst/>
          </a:prstGeom>
          <a:noFill/>
        </p:spPr>
        <p:txBody>
          <a:bodyPr wrap="none">
            <a:spAutoFit/>
          </a:bodyPr>
          <a:lstStyle/>
          <a:p>
            <a:r>
              <a:rPr lang="en-GB" sz="2300" b="1" dirty="0">
                <a:solidFill>
                  <a:srgbClr val="2C2C2A"/>
                </a:solidFill>
                <a:latin typeface="Segoe UI"/>
              </a:rPr>
              <a:t>Permission management implementation graph</a:t>
            </a:r>
            <a:endParaRPr sz="2300" b="1" dirty="0">
              <a:solidFill>
                <a:srgbClr val="2C2C2A"/>
              </a:solidFill>
              <a:latin typeface="Segoe UI"/>
            </a:endParaRPr>
          </a:p>
        </p:txBody>
      </p:sp>
      <p:sp>
        <p:nvSpPr>
          <p:cNvPr id="4" name="Rounded Rectangle 3"/>
          <p:cNvSpPr/>
          <p:nvPr/>
        </p:nvSpPr>
        <p:spPr>
          <a:xfrm>
            <a:off x="548640" y="1600200"/>
            <a:ext cx="2103120" cy="777240"/>
          </a:xfrm>
          <a:prstGeom prst="roundRect">
            <a:avLst>
              <a:gd name="adj" fmla="val 10000"/>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200" b="1">
                <a:solidFill>
                  <a:srgbClr val="04342C"/>
                </a:solidFill>
                <a:latin typeface="Segoe UI"/>
              </a:rPr>
              <a:t>tool call</a:t>
            </a:r>
          </a:p>
          <a:p>
            <a:pPr algn="ctr"/>
            <a:r>
              <a:rPr sz="1000">
                <a:solidFill>
                  <a:srgbClr val="2C2C2A"/>
                </a:solidFill>
                <a:latin typeface="Segoe UI"/>
              </a:rPr>
              <a:t>engine → registry.execute()</a:t>
            </a:r>
          </a:p>
        </p:txBody>
      </p:sp>
      <p:sp>
        <p:nvSpPr>
          <p:cNvPr id="5" name="Rounded Rectangle 4"/>
          <p:cNvSpPr/>
          <p:nvPr/>
        </p:nvSpPr>
        <p:spPr>
          <a:xfrm>
            <a:off x="3383280" y="1600200"/>
            <a:ext cx="2377440" cy="777240"/>
          </a:xfrm>
          <a:prstGeom prst="roundRect">
            <a:avLst>
              <a:gd name="adj" fmla="val 1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300" b="1">
                <a:solidFill>
                  <a:srgbClr val="26215C"/>
                </a:solidFill>
                <a:latin typeface="Segoe UI"/>
              </a:rPr>
              <a:t>evaluate(name, args)</a:t>
            </a:r>
          </a:p>
          <a:p>
            <a:pPr algn="ctr">
              <a:spcBef>
                <a:spcPts val="0"/>
              </a:spcBef>
              <a:spcAft>
                <a:spcPts val="200"/>
              </a:spcAft>
            </a:pPr>
            <a:r>
              <a:rPr sz="1200" b="0">
                <a:solidFill>
                  <a:srgbClr val="26215C"/>
                </a:solidFill>
                <a:latin typeface="Segoe UI"/>
              </a:rPr>
              <a:t>session first, then rules</a:t>
            </a:r>
          </a:p>
        </p:txBody>
      </p:sp>
      <p:cxnSp>
        <p:nvCxnSpPr>
          <p:cNvPr id="6" name="Connector 5"/>
          <p:cNvCxnSpPr/>
          <p:nvPr/>
        </p:nvCxnSpPr>
        <p:spPr>
          <a:xfrm>
            <a:off x="2651760" y="1988819"/>
            <a:ext cx="731520" cy="0"/>
          </a:xfrm>
          <a:prstGeom prst="line">
            <a:avLst/>
          </a:prstGeom>
          <a:ln w="25400">
            <a:solidFill>
              <a:srgbClr val="0F6E56"/>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48640" y="3063240"/>
            <a:ext cx="3108960" cy="1005840"/>
          </a:xfrm>
          <a:prstGeom prst="roundRect">
            <a:avLst>
              <a:gd name="adj" fmla="val 10000"/>
            </a:avLst>
          </a:prstGeom>
          <a:solidFill>
            <a:srgbClr val="EAF3DE"/>
          </a:solidFill>
          <a:ln w="12700">
            <a:solidFill>
              <a:srgbClr val="3B6D11"/>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400" b="1">
                <a:solidFill>
                  <a:srgbClr val="173404"/>
                </a:solidFill>
                <a:latin typeface="Segoe UI"/>
              </a:rPr>
              <a:t>tiers 1 + 2 → ALLOW</a:t>
            </a:r>
          </a:p>
          <a:p>
            <a:pPr algn="ctr">
              <a:spcBef>
                <a:spcPts val="0"/>
              </a:spcBef>
              <a:spcAft>
                <a:spcPts val="200"/>
              </a:spcAft>
            </a:pPr>
            <a:r>
              <a:rPr sz="1300" b="0">
                <a:solidFill>
                  <a:srgbClr val="173404"/>
                </a:solidFill>
                <a:latin typeface="Segoe UI"/>
              </a:rPr>
              <a:t>Read tools + designated edit tools</a:t>
            </a:r>
          </a:p>
        </p:txBody>
      </p:sp>
      <p:sp>
        <p:nvSpPr>
          <p:cNvPr id="8" name="Rounded Rectangle 7"/>
          <p:cNvSpPr/>
          <p:nvPr/>
        </p:nvSpPr>
        <p:spPr>
          <a:xfrm>
            <a:off x="4023360" y="3063240"/>
            <a:ext cx="3108960" cy="1005840"/>
          </a:xfrm>
          <a:prstGeom prst="roundRect">
            <a:avLst>
              <a:gd name="adj" fmla="val 10000"/>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400" b="1">
                <a:solidFill>
                  <a:srgbClr val="412402"/>
                </a:solidFill>
                <a:latin typeface="Segoe UI"/>
              </a:rPr>
              <a:t>tier 3 → CONFIRM</a:t>
            </a:r>
          </a:p>
          <a:p>
            <a:pPr algn="ctr">
              <a:spcBef>
                <a:spcPts val="0"/>
              </a:spcBef>
              <a:spcAft>
                <a:spcPts val="200"/>
              </a:spcAft>
            </a:pPr>
            <a:r>
              <a:rPr sz="1300" b="0">
                <a:solidFill>
                  <a:srgbClr val="412402"/>
                </a:solidFill>
                <a:latin typeface="Segoe UI"/>
              </a:rPr>
              <a:t>Web tools: show tool, rule + args</a:t>
            </a:r>
          </a:p>
        </p:txBody>
      </p:sp>
      <p:sp>
        <p:nvSpPr>
          <p:cNvPr id="9" name="Rounded Rectangle 8"/>
          <p:cNvSpPr/>
          <p:nvPr/>
        </p:nvSpPr>
        <p:spPr>
          <a:xfrm>
            <a:off x="7498079" y="3063240"/>
            <a:ext cx="4160520" cy="1005840"/>
          </a:xfrm>
          <a:prstGeom prst="roundRect">
            <a:avLst>
              <a:gd name="adj" fmla="val 10000"/>
            </a:avLst>
          </a:prstGeom>
          <a:solidFill>
            <a:srgbClr val="FCEBEB"/>
          </a:solidFill>
          <a:ln w="12700">
            <a:solidFill>
              <a:srgbClr val="A32D2D"/>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400" b="1">
                <a:solidFill>
                  <a:srgbClr val="501313"/>
                </a:solidFill>
                <a:latin typeface="Segoe UI"/>
              </a:rPr>
              <a:t>unmatched → CONFIRM</a:t>
            </a:r>
          </a:p>
          <a:p>
            <a:pPr algn="ctr">
              <a:spcBef>
                <a:spcPts val="0"/>
              </a:spcBef>
              <a:spcAft>
                <a:spcPts val="200"/>
              </a:spcAft>
            </a:pPr>
            <a:r>
              <a:rPr sz="1300" b="0">
                <a:solidFill>
                  <a:srgbClr val="501313"/>
                </a:solidFill>
                <a:latin typeface="Segoe UI"/>
              </a:rPr>
              <a:t>No matching rule? Ask the user.</a:t>
            </a:r>
          </a:p>
        </p:txBody>
      </p:sp>
      <p:cxnSp>
        <p:nvCxnSpPr>
          <p:cNvPr id="10" name="Connector 9"/>
          <p:cNvCxnSpPr/>
          <p:nvPr/>
        </p:nvCxnSpPr>
        <p:spPr>
          <a:xfrm>
            <a:off x="4114800" y="2377440"/>
            <a:ext cx="0" cy="182880"/>
          </a:xfrm>
          <a:prstGeom prst="line">
            <a:avLst/>
          </a:prstGeom>
          <a:ln w="19050">
            <a:solidFill>
              <a:srgbClr val="3B6D11"/>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103120" y="2560320"/>
            <a:ext cx="2011680" cy="0"/>
          </a:xfrm>
          <a:prstGeom prst="line">
            <a:avLst/>
          </a:prstGeom>
          <a:ln w="19050">
            <a:solidFill>
              <a:srgbClr val="3B6D11"/>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103120" y="2560320"/>
            <a:ext cx="0" cy="502920"/>
          </a:xfrm>
          <a:prstGeom prst="line">
            <a:avLst/>
          </a:prstGeom>
          <a:ln w="19050">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572000" y="2377440"/>
            <a:ext cx="0" cy="365760"/>
          </a:xfrm>
          <a:prstGeom prst="line">
            <a:avLst/>
          </a:prstGeom>
          <a:ln w="19050">
            <a:solidFill>
              <a:srgbClr val="854F0B"/>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572000" y="2743200"/>
            <a:ext cx="1005840" cy="0"/>
          </a:xfrm>
          <a:prstGeom prst="line">
            <a:avLst/>
          </a:prstGeom>
          <a:ln w="19050">
            <a:solidFill>
              <a:srgbClr val="854F0B"/>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577840" y="2743200"/>
            <a:ext cx="0" cy="320040"/>
          </a:xfrm>
          <a:prstGeom prst="line">
            <a:avLst/>
          </a:prstGeom>
          <a:ln w="19050">
            <a:solidFill>
              <a:srgbClr val="854F0B"/>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4572000"/>
            <a:ext cx="2377440" cy="731520"/>
          </a:xfrm>
          <a:prstGeom prst="roundRect">
            <a:avLst>
              <a:gd name="adj" fmla="val 10000"/>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wrap="square" lIns="63500" tIns="25400" rIns="63500" bIns="25400" rtlCol="0" anchor="ctr"/>
          <a:lstStyle/>
          <a:p>
            <a:pPr algn="ctr"/>
            <a:r>
              <a:rPr sz="1200" b="1">
                <a:solidFill>
                  <a:srgbClr val="04342C"/>
                </a:solidFill>
                <a:latin typeface="Segoe UI"/>
              </a:rPr>
              <a:t>execute()</a:t>
            </a:r>
          </a:p>
          <a:p>
            <a:pPr algn="ctr"/>
            <a:r>
              <a:rPr sz="900">
                <a:solidFill>
                  <a:srgbClr val="2C2C2A"/>
                </a:solidFill>
                <a:latin typeface="Segoe UI"/>
              </a:rPr>
              <a:t>result → next iteration</a:t>
            </a:r>
          </a:p>
        </p:txBody>
      </p:sp>
      <p:cxnSp>
        <p:nvCxnSpPr>
          <p:cNvPr id="20" name="Connector 19"/>
          <p:cNvCxnSpPr/>
          <p:nvPr/>
        </p:nvCxnSpPr>
        <p:spPr>
          <a:xfrm>
            <a:off x="1737360" y="4069080"/>
            <a:ext cx="0" cy="502920"/>
          </a:xfrm>
          <a:prstGeom prst="line">
            <a:avLst/>
          </a:prstGeom>
          <a:ln w="19050">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520440" y="4572000"/>
            <a:ext cx="1691640" cy="731520"/>
          </a:xfrm>
          <a:prstGeom prst="roundRect">
            <a:avLst>
              <a:gd name="adj" fmla="val 10000"/>
            </a:avLst>
          </a:prstGeom>
          <a:solidFill>
            <a:srgbClr val="EAF3DE"/>
          </a:solidFill>
          <a:ln w="12700">
            <a:solidFill>
              <a:srgbClr val="3B6D11"/>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200" b="1">
                <a:solidFill>
                  <a:srgbClr val="173404"/>
                </a:solidFill>
                <a:latin typeface="Segoe UI"/>
              </a:rPr>
              <a:t>y / always</a:t>
            </a:r>
          </a:p>
          <a:p>
            <a:pPr algn="ctr">
              <a:spcBef>
                <a:spcPts val="0"/>
              </a:spcBef>
              <a:spcAft>
                <a:spcPts val="200"/>
              </a:spcAft>
            </a:pPr>
            <a:r>
              <a:rPr sz="1100" b="0">
                <a:solidFill>
                  <a:srgbClr val="173404"/>
                </a:solidFill>
                <a:latin typeface="Segoe UI"/>
              </a:rPr>
              <a:t>This tool, this session</a:t>
            </a:r>
          </a:p>
        </p:txBody>
      </p:sp>
      <p:sp>
        <p:nvSpPr>
          <p:cNvPr id="22" name="Rounded Rectangle 21"/>
          <p:cNvSpPr/>
          <p:nvPr/>
        </p:nvSpPr>
        <p:spPr>
          <a:xfrm>
            <a:off x="5440680" y="4572000"/>
            <a:ext cx="2194560" cy="1005840"/>
          </a:xfrm>
          <a:prstGeom prst="roundRect">
            <a:avLst>
              <a:gd name="adj" fmla="val 10000"/>
            </a:avLst>
          </a:prstGeom>
          <a:solidFill>
            <a:srgbClr val="FCEBEB"/>
          </a:solidFill>
          <a:ln w="12700">
            <a:solidFill>
              <a:srgbClr val="A32D2D"/>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200" b="1">
                <a:solidFill>
                  <a:srgbClr val="501313"/>
                </a:solidFill>
                <a:latin typeface="Segoe UI"/>
              </a:rPr>
              <a:t>Fail-closed → DENY</a:t>
            </a:r>
          </a:p>
          <a:p>
            <a:pPr algn="ctr">
              <a:spcBef>
                <a:spcPts val="0"/>
              </a:spcBef>
              <a:spcAft>
                <a:spcPts val="200"/>
              </a:spcAft>
            </a:pPr>
            <a:r>
              <a:rPr sz="1100" b="0">
                <a:solidFill>
                  <a:srgbClr val="501313"/>
                </a:solidFill>
                <a:latin typeface="Segoe UI"/>
              </a:rPr>
              <a:t>• User refuses</a:t>
            </a:r>
          </a:p>
          <a:p>
            <a:pPr algn="ctr">
              <a:spcBef>
                <a:spcPts val="0"/>
              </a:spcBef>
              <a:spcAft>
                <a:spcPts val="200"/>
              </a:spcAft>
            </a:pPr>
            <a:r>
              <a:rPr sz="1100" b="0">
                <a:solidFill>
                  <a:srgbClr val="501313"/>
                </a:solidFill>
                <a:latin typeface="Segoe UI"/>
              </a:rPr>
              <a:t>• No interactive input</a:t>
            </a:r>
          </a:p>
          <a:p>
            <a:pPr algn="ctr">
              <a:spcBef>
                <a:spcPts val="0"/>
              </a:spcBef>
              <a:spcAft>
                <a:spcPts val="200"/>
              </a:spcAft>
            </a:pPr>
            <a:r>
              <a:rPr sz="1100" b="0">
                <a:solidFill>
                  <a:srgbClr val="501313"/>
                </a:solidFill>
                <a:latin typeface="Segoe UI"/>
              </a:rPr>
              <a:t>• Confirmation fails</a:t>
            </a:r>
          </a:p>
        </p:txBody>
      </p:sp>
      <p:cxnSp>
        <p:nvCxnSpPr>
          <p:cNvPr id="23" name="Connector 22"/>
          <p:cNvCxnSpPr/>
          <p:nvPr/>
        </p:nvCxnSpPr>
        <p:spPr>
          <a:xfrm>
            <a:off x="4069080" y="4069080"/>
            <a:ext cx="0" cy="274320"/>
          </a:xfrm>
          <a:prstGeom prst="line">
            <a:avLst/>
          </a:prstGeom>
          <a:ln w="19050">
            <a:solidFill>
              <a:srgbClr val="854F0B"/>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069080" y="4343400"/>
            <a:ext cx="297180" cy="0"/>
          </a:xfrm>
          <a:prstGeom prst="line">
            <a:avLst/>
          </a:prstGeom>
          <a:ln w="19050">
            <a:solidFill>
              <a:srgbClr val="854F0B"/>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366260" y="4343400"/>
            <a:ext cx="0" cy="228600"/>
          </a:xfrm>
          <a:prstGeom prst="line">
            <a:avLst/>
          </a:prstGeom>
          <a:ln w="19050">
            <a:solidFill>
              <a:srgbClr val="854F0B"/>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a:cxnSpLocks/>
            <a:stCxn id="21" idx="1"/>
          </p:cNvCxnSpPr>
          <p:nvPr/>
        </p:nvCxnSpPr>
        <p:spPr>
          <a:xfrm flipH="1">
            <a:off x="2926080" y="4937760"/>
            <a:ext cx="594360" cy="0"/>
          </a:xfrm>
          <a:prstGeom prst="line">
            <a:avLst/>
          </a:prstGeom>
          <a:ln w="15875">
            <a:solidFill>
              <a:srgbClr val="3B6D11"/>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263640" y="4069080"/>
            <a:ext cx="0" cy="251460"/>
          </a:xfrm>
          <a:prstGeom prst="line">
            <a:avLst/>
          </a:prstGeom>
          <a:ln w="19050">
            <a:solidFill>
              <a:srgbClr val="A32D2D"/>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263640" y="4320540"/>
            <a:ext cx="274320" cy="0"/>
          </a:xfrm>
          <a:prstGeom prst="line">
            <a:avLst/>
          </a:prstGeom>
          <a:ln w="19050">
            <a:solidFill>
              <a:srgbClr val="A32D2D"/>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537960" y="4320540"/>
            <a:ext cx="0" cy="251460"/>
          </a:xfrm>
          <a:prstGeom prst="line">
            <a:avLst/>
          </a:prstGeom>
          <a:ln w="19050">
            <a:solidFill>
              <a:srgbClr val="A32D2D"/>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863840" y="4572000"/>
            <a:ext cx="3794760" cy="868680"/>
          </a:xfrm>
          <a:prstGeom prst="roundRect">
            <a:avLst>
              <a:gd name="adj" fmla="val 10000"/>
            </a:avLst>
          </a:prstGeom>
          <a:solidFill>
            <a:srgbClr val="F1EFE8"/>
          </a:solidFill>
          <a:ln w="12700">
            <a:solidFill>
              <a:srgbClr val="5F5E5A"/>
            </a:solidFill>
          </a:ln>
          <a:effectLst/>
        </p:spPr>
        <p:style>
          <a:lnRef idx="1">
            <a:schemeClr val="accent1"/>
          </a:lnRef>
          <a:fillRef idx="3">
            <a:schemeClr val="accent1"/>
          </a:fillRef>
          <a:effectRef idx="2">
            <a:schemeClr val="accent1"/>
          </a:effectRef>
          <a:fontRef idx="minor">
            <a:schemeClr val="lt1"/>
          </a:fontRef>
        </p:style>
        <p:txBody>
          <a:bodyPr wrap="square" lIns="82296" tIns="36576" rIns="82296" bIns="36576" rtlCol="0" anchor="ctr">
            <a:noAutofit/>
          </a:bodyPr>
          <a:lstStyle/>
          <a:p>
            <a:pPr algn="ctr">
              <a:spcBef>
                <a:spcPts val="0"/>
              </a:spcBef>
              <a:spcAft>
                <a:spcPts val="200"/>
              </a:spcAft>
            </a:pPr>
            <a:r>
              <a:rPr sz="1400" b="1">
                <a:solidFill>
                  <a:srgbClr val="2C2C2A"/>
                </a:solidFill>
                <a:latin typeface="Segoe UI"/>
              </a:rPr>
              <a:t>Denial → TOOL observation</a:t>
            </a:r>
          </a:p>
          <a:p>
            <a:pPr algn="ctr">
              <a:spcBef>
                <a:spcPts val="0"/>
              </a:spcBef>
              <a:spcAft>
                <a:spcPts val="200"/>
              </a:spcAft>
            </a:pPr>
            <a:r>
              <a:rPr sz="1300" b="0">
                <a:solidFill>
                  <a:srgbClr val="2C2C2A"/>
                </a:solidFill>
                <a:latin typeface="Segoe UI"/>
              </a:rPr>
              <a:t>Model can choose another approach</a:t>
            </a:r>
          </a:p>
        </p:txBody>
      </p:sp>
      <p:cxnSp>
        <p:nvCxnSpPr>
          <p:cNvPr id="33" name="Connector 32"/>
          <p:cNvCxnSpPr/>
          <p:nvPr/>
        </p:nvCxnSpPr>
        <p:spPr>
          <a:xfrm>
            <a:off x="7635240" y="4937760"/>
            <a:ext cx="228600" cy="0"/>
          </a:xfrm>
          <a:prstGeom prst="bentConnector3">
            <a:avLst/>
          </a:prstGeom>
          <a:ln w="19050">
            <a:solidFill>
              <a:srgbClr val="A32D2D"/>
            </a:solidFill>
            <a:tailEnd type="arrow" w="med" len="med"/>
          </a:ln>
          <a:effectLst/>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7A2787BD-2F00-91C2-BA9A-5FCFBCD201F7}"/>
              </a:ext>
            </a:extLst>
          </p:cNvPr>
          <p:cNvCxnSpPr>
            <a:stCxn id="5" idx="3"/>
            <a:endCxn id="9" idx="0"/>
          </p:cNvCxnSpPr>
          <p:nvPr/>
        </p:nvCxnSpPr>
        <p:spPr>
          <a:xfrm>
            <a:off x="5760720" y="1988820"/>
            <a:ext cx="3817619" cy="1074420"/>
          </a:xfrm>
          <a:prstGeom prst="bentConnector2">
            <a:avLst/>
          </a:prstGeom>
          <a:ln>
            <a:tailEnd type="triangle"/>
          </a:ln>
        </p:spPr>
        <p:style>
          <a:lnRef idx="1">
            <a:schemeClr val="accent2"/>
          </a:lnRef>
          <a:fillRef idx="0">
            <a:schemeClr val="accent2"/>
          </a:fillRef>
          <a:effectRef idx="0">
            <a:schemeClr val="accent2"/>
          </a:effectRef>
          <a:fontRef idx="minor">
            <a:schemeClr val="tx1"/>
          </a:fontRef>
        </p:style>
      </p:cxnSp>
      <p:pic>
        <p:nvPicPr>
          <p:cNvPr id="17" name="Picture 16" descr="The image depicts the logo of Universitat Passau, featuring a stylized orange and white gradient, with an open book and a circular emblem.&#10;&#10;AI-generated content may be incorrect.">
            <a:extLst>
              <a:ext uri="{FF2B5EF4-FFF2-40B4-BE49-F238E27FC236}">
                <a16:creationId xmlns:a16="http://schemas.microsoft.com/office/drawing/2014/main" id="{2E82AC18-A459-7FEE-C2C5-6185B2F3EBBD}"/>
              </a:ext>
            </a:extLst>
          </p:cNvPr>
          <p:cNvPicPr>
            <a:picLocks noChangeAspect="1"/>
          </p:cNvPicPr>
          <p:nvPr/>
        </p:nvPicPr>
        <p:blipFill>
          <a:blip r:embed="rId3"/>
          <a:stretch>
            <a:fillRect/>
          </a:stretch>
        </p:blipFill>
        <p:spPr>
          <a:xfrm>
            <a:off x="9657522" y="73352"/>
            <a:ext cx="2451653" cy="6152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4DB3574-D4BB-8FDE-3FB9-BDCB62DE8EDE}"/>
              </a:ext>
            </a:extLst>
          </p:cNvPr>
          <p:cNvSpPr txBox="1">
            <a:spLocks/>
          </p:cNvSpPr>
          <p:nvPr/>
        </p:nvSpPr>
        <p:spPr>
          <a:xfrm>
            <a:off x="1752600" y="2945757"/>
            <a:ext cx="8686800" cy="966486"/>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sz="5400" dirty="0">
                <a:latin typeface="Bierstadt" panose="020B0004020202020204" pitchFamily="34" charset="0"/>
              </a:rPr>
              <a:t>Thank You</a:t>
            </a:r>
            <a:endParaRPr lang="en-IN" sz="5400" dirty="0">
              <a:latin typeface="Bierstadt" panose="020B0004020202020204" pitchFamily="34" charset="0"/>
            </a:endParaRPr>
          </a:p>
        </p:txBody>
      </p:sp>
    </p:spTree>
    <p:extLst>
      <p:ext uri="{BB962C8B-B14F-4D97-AF65-F5344CB8AC3E}">
        <p14:creationId xmlns:p14="http://schemas.microsoft.com/office/powerpoint/2010/main" val="3505145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913</TotalTime>
  <Words>937</Words>
  <Application>Microsoft Office PowerPoint</Application>
  <PresentationFormat>Widescreen</PresentationFormat>
  <Paragraphs>70</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Bierstadt</vt:lpstr>
      <vt:lpstr>Segoe UI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 Bummenthal</cp:lastModifiedBy>
  <cp:revision>6</cp:revision>
  <dcterms:created xsi:type="dcterms:W3CDTF">2013-01-27T09:14:16Z</dcterms:created>
  <dcterms:modified xsi:type="dcterms:W3CDTF">2026-09-18T05:06:49Z</dcterms:modified>
  <cp:category/>
</cp:coreProperties>
</file>